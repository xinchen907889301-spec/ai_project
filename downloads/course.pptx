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本课程依据作者提供的四份游戏理解文档整理。作者自述千分王者，尚未独立核验段位，不作为封面认证宣传。课程是决策方法，不保证排名。请用当前版本实例替换待核验案例。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面向萌新重点讲定向、成型与止损；中等玩家增加同行侦察、替代阵容与冲九取舍。建议配合课后练习逐章讲解。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作者强调先解决共性。不能把某赛季强卡写成永久结论。版本知识必须带游戏、模式、赛季、补丁和来源。作者关于必选经济强化等主张属于推荐体系，不写成游戏机制。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定方向不等于在2-1永久锁死所有英雄。作者建议开局基本定阵并准备多套同装备体系；晚期强行转阵往往代价更高。用候选方向与最终定阵两个层次解释。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主C指主要输出核心，主T指主要承伤核心。84通常指八人口四费核心，95通常指九人口五费体系。赌狗指以追三星低中费用核心为目标的阵容。D牌指付费刷新商店。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作者以四阶段常规资源约够两名英雄带满装备解释双核心重要性。这是经验场景，不是固定装备总数；额外掉落、强化与模式会改变资源。每英雄装备位也须匹配具体规则。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保留作者三类输出机制。不要写切后排永远强于AOE；目标可达、伤害兑现、技能频率及对手防护都影响结果。具体赛季英雄案例需核验后补入。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作者认为早期羁绊应围绕高质量单卡构筑。职业与种族分类不固定等同战力与娱乐，按实际效果判断。机制收益与战力收益可同时存在。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作者用95解释理论强度与高端局成型难度。这里不用未经统计的期望名次公式或胜率。可定性比较候选方案的强度、成本与可达性。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不把开局两张两星卡转换成固定连胜概率。它代表相对较好的自身质量，实际连胜还取决于对手与版本。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前后排诊断为整理者的可执行补充，用于落实作者“综合判断”。不是已经验证的英雄对比模型。前排或输出的最低要求不设跨版本硬阈值。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保留物理、法系、混伤三类候选思路，但不将混伤天然弱写成永久规则。羊刀、青龙刀等适配关系与启动装分类须按版本核验。课程主体用装备功能讲共性。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这是把作者“提前准备几套阵容、开局看外面、及时跑路”整理成流程。两条候选是教学建议，不是游戏硬性数量。内置阵容构筑器可以保存计划。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作者承认更胡对手可能断连胜，不能保证结果。计划连败与无计划掉血分开讲。不要建议无目的放低质量，也不保证选秀能拿到目标散件。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作者认为早期升级成本通常比冲八九小，但实际费用、利息损失和概率需按当前规则计算。保连胜投入边界尚无作者明确公式，因此表达为决策检查，不伪造固定搜牌额度。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不把高血量等同必定吃分。作者强调连胜搜牌不顺仍有更多容错，这应写为资源优势。连续失败后的诊断为课程整理补充。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作者认为低血量开局需要足够强的阵容锁血。不能泛化为连败只能玩T0。止损看血量预算、提升空间和时间，而非跨版本固定回合。选秀前连败后转连胜仅作一种条件路线。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作者补充复制器对2—3费赌狗价值高，一费赌狗偏好免费刷新。属于作者优先级，不写成每个版本绝对最优。拿一个经济强化不等于经济足够；仍要算总成本。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不要因为期望3-2出现经济强化，就把当前装备强化视为无代价。记录计划对未来随机收益的依赖。机制联动的1+1&gt;2需要版本知识更新。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常规作者思路偏向四阶段及时抢牌。4-1不是所有费用阵容和所有版本的统一启动时点；赌狗的等级与搜牌时间由费用概率和阵容决定。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作者建议同行占牌且高血量时存钱上九，低血量时拼补强。产品不得只建议无止境搜一个接近耗尽的目标，需展示替代提升路径。后者为整理补充，标明非作者原话。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作者指出同行多时持有核心对子也有价值，但不保证能两星。四费牌总量“10张”来自作者例子，未核验，不作为课程通用规则或产品常量。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搜不到不一定来自同行，随机事件不能说基本不可能。作者强调晚期迫降通常保分而非追上限。不能保证下位替代稳前三，也不能假定所有版本都存在合适替代。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具体牌池、商店概率、复制器和特殊机制必须依据对应模式核验。不同费用的牌被拿走不应直接当成目标概率提升。不要输出未经模型支持的精确搜牌概率。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作者明确纠正晚启动理解。前两种路线不需要追求最高理论上限。赌狗也可连胜或连败，但前提与实际成型节奏不同。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高血量不是唯一条件。作者提到4-7野怪回合启动以减少操作过载；具体轮次按模式核验。野怪回合仍需考虑打野战力和操作时间。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80-5×12=20仅沿用作者教学假设，不是核验过的伤害规则。损血取决于阶段、存活单位与模式。用区间估计并采取保守情形，不把20血写成一定一波容错。datatft访问403，规则未核验。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没有统计依据不提供吃鸡概率数字。作者希望给玩家吃鸡可能，可以用机会条件与风险等级表达。后续若有校准数据，再考虑统计概率。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详细题目与参考讨论见练习册。先让学生说明缺失信息，再做选择。参考答案是条件分支，不是假装只有一个固定答案。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不因两星核心就承诺连胜。提醒玩家观察当前战斗过程。前期升级成本与利息用实时规则计算，不编造金额。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不把场上看到的数量当成全部占牌。高血量存钱上九还需经济和版本条件。避免把继续搜原主T写成唯一救命策略。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让学生区分等级上限与真实成型。未来随机强化或掉牌不能当作必定收入。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建议打印成课程行动卡。不要求萌新30秒内检查全部七人；先掌握自己的状态，再扩展侦察。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课程终页。适合以一局录像逐段复盘结束。公开售卖前核对版本案例、确定署名并完成真实教学反馈；无需因这些尚未完成而阻塞第一版交付。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3F2E9"/>
                </a:solidFill>
                <a:latin typeface="Noto Sans CJK SC"/>
              </a:defRPr>
            </a:pPr>
            <a:r>
              <a:t>定阵之前，先读懂这局棋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240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D7B67B"/>
                </a:solidFill>
                <a:latin typeface="Noto Sans CJK SC"/>
              </a:defRPr>
            </a:pPr>
            <a:r>
              <a:t>金铲铲：从阵容理解到局内运营的决策课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05072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面向谁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萌新与中等水平玩家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从照抄阵容走向有理由的选择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33756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54787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4005072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你将学会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66344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识别优势 · 规划经济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及时启动 · 保留退路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33756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54787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4005072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课程目标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66344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默认稳健上分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条件允许时追求吃鸡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01 / 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学习目标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先学会解释选择，再记住阵容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读完课程，你应能回答三个问题：为什么选、何时动、何时改。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选择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这套阵容如何赢？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当前牌和装备支持它吗？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节奏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优势值得投入多少钱？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何时搜牌，何时存钱？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退路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关键牌不来怎么办？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保排名还是冲上限？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方法框架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把版本变化与长期原则分开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原则负责提出问题，版本数据负责回答具体哪张牌、哪件装备。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长期原则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质量、资源、成型成本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血量容错与竞争环境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版本知识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英雄、羁绊、装备、强化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强度、牌池与伤害规则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当前局势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来牌、装备、金币、血量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同行与已知对手信息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3931920"/>
            <a:ext cx="384048" cy="475488"/>
          </a:xfrm>
          <a:prstGeom prst="rect">
            <a:avLst/>
          </a:prstGeom>
          <a:solidFill>
            <a:srgbClr val="10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3922776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D7B67B"/>
                </a:solidFill>
                <a:latin typeface="Noto Sans CJK SC"/>
              </a:defRPr>
            </a:pPr>
            <a: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3931920"/>
            <a:ext cx="384048" cy="475488"/>
          </a:xfrm>
          <a:prstGeom prst="rect">
            <a:avLst/>
          </a:prstGeom>
          <a:solidFill>
            <a:srgbClr val="10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922776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D7B67B"/>
                </a:solidFill>
                <a:latin typeface="Noto Sans CJK SC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上分是一条连续的决策链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阵容强度 → 开局定向 → 运营成型 → 排名兑现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读开局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哪些质量与装备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是我已经拥有的优势？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定方向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能通向哪些强势阵容？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成本与竞争是否可接受？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兑现优势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启动、补强、转阵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选择可实现的名次目标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3931920"/>
            <a:ext cx="384048" cy="475488"/>
          </a:xfrm>
          <a:prstGeom prst="rect">
            <a:avLst/>
          </a:prstGeom>
          <a:solidFill>
            <a:srgbClr val="10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3922776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D7B67B"/>
                </a:solidFill>
                <a:latin typeface="Noto Sans CJK SC"/>
              </a:defRPr>
            </a:pPr>
            <a: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3931920"/>
            <a:ext cx="384048" cy="475488"/>
          </a:xfrm>
          <a:prstGeom prst="rect">
            <a:avLst/>
          </a:prstGeom>
          <a:solidFill>
            <a:srgbClr val="10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3922776"/>
            <a:ext cx="2926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D7B67B"/>
                </a:solidFill>
                <a:latin typeface="Noto Sans CJK SC"/>
              </a:defRPr>
            </a:pPr>
            <a: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阵容构筑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01 · 强势阵容是怎样构筑的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先理解获胜方式，才能理解为什么同一套装备可以变阵。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主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输出能否及时兑现？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主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能否撑到关键输出发生？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体系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羁绊与特殊机制；能否放大核心价值？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阵容构筑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四阶段：关注资源能否集中兑现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作者的核心观察：启动期，核心输出和承伤往往决定阵容是否站得住。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资源集中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优先让关键英雄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拿到适配的装备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体系补足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外围英雄提供羁绊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控制、减抗与辅助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检查限制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额外装备、机制资源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可能改变双核心结构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阵容构筑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看输出，不只看面板伤害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不同机制解决不同的战斗问题；强弱由数值与环境共同决定。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机制 / 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0779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作用与判断要点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10712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57016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范围伤害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57016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同时压低多个目标；检查启动速度与实际覆盖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808208" cy="630936"/>
          </a:xfrm>
          <a:prstGeom prst="rect">
            <a:avLst/>
          </a:prstGeom>
          <a:solidFill>
            <a:srgbClr val="15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0682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切后排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306824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绕过承伤核心；检查寻敌、站位与生存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10328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5663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单点爆发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056632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快速突破关键目标；检查过量伤害与换目标效率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阵容构筑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围绕核心补羁绊，而非为了数字凑羁绊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优先判断新增羁绊是否改善当前阵容的实际短板。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战力收益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提升伤害、承伤或控制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能否直接改善战斗？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机制收益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额外资源、特殊效果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是否满足触发条件？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替换成本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为凑羁绊换下两星卡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到底损失了多少质量？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阵容构筑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理论最强，不等于这局最值得玩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把成型强度与成型机会一起考虑。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上限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成型后能打过什么？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需要哪些稀缺条件？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等级、金币、牌与装备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启动前承受多少损血？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可达性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同行占牌、当前基础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有没有足够时间完成？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09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开局定向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02 · 先读开局，再决定运营方向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来牌、装备和强化共同决定开局；任何单项都不能包办判断。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来牌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星级、对子与核心；前后排是否能协同？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装备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是否适合当前持有者；以后由谁继承？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强化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提供即刻战力；还是支持后续成型？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开局定向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两星质量是起点，适配性决定兑现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作者默认优先利用前期两星低费卡，再为它补体系。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默认选择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用已有两星卡撑战力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围绕它补有效羁绊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可能例外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强势一星高费卡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有合适装备与机制支持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验证短板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后排未启动就倒了？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还是前排撑住却打不动？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开局定向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装备定方向，也要考虑继承路径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做出的装备，会让后续阵容选择更集中。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当前持有者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装备能否立即提升战力？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是否值得提前合成？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目标核心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有哪几套阵容能接装？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不要只准备一个终点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补齐功能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启动、输出、承伤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减抗等短板是否解决？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开局定向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开局定向：保留两条能落地的路线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一个主计划，加一个同装备体系的替代计划。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主计划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版本强度与来牌适配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有足够成型资源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替代计划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核心不同、装备能沿用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避免晚期大规模重做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更新信号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新来牌、新强化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同行争抢与实际战况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03 · 连胜与连败，是两种资源交换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连胜争取选择空间；连败必须有能兑现的后续计划。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连胜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血量与经济优势；允许保分或继续追上限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连败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换取经济或选秀机会；承担更早启动的压力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混合结果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输赢交替不能只归因运气；检查投入是否有明确收益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保连胜：每次投入都要买到提升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升级、搜牌、合装备之前，先说清楚这笔投入改善什么。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新增英雄或羁绊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是否形成实际提升？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搜牌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有明确对子或关键缺口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收益是否值得经济损失？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合装备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即时战力与后续适配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是否值得放弃等待？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断连胜后，先调整计划而非否定整局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一场失败不等于运营失败；连续失败则需要重新诊断。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偶发失利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遇到更强对手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核对是否仍有质量优势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持续失利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查前排、输出与装备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不要只继续贪利息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重新选择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及时补强或接受过渡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保留成型预算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连败要有终点，也要有止损点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你不是在等运气，而是在为明确的启动条件积累资源。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计划连败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目标阵容与装备明确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经济收益能支撑成型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被迫连败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先检查阵容可达性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下调目标并准备补强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停止贪经济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预计损血威胁启动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或关键牌竞争已加剧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经济强化：看它降低哪一种成型成本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作者体系：通常优先确保一项适配的经济支持。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机制 / 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0779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作用与判断要点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10712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57016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金币与经验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57016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支持升级与高费体系；也能补充购买、刷新预算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808208" cy="630936"/>
          </a:xfrm>
          <a:prstGeom prst="rect">
            <a:avLst/>
          </a:prstGeom>
          <a:solidFill>
            <a:srgbClr val="15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0682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免费刷新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306824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更适合重复搜牌需求；尤其低费追三星路线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10328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5663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直接给牌 / 复制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056632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减少目标牌获取成本；检查费用、时机与限制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强化选择：适配比标签更重要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英雄配宝刀：收益必须能被这局的阵容兑现。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当前收益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能否支撑这一阶段？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装备与英雄是否适配？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后续收益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能否缩小成型缺口？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何时拿到、何时能用？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机会成本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放弃的是经济还是战力？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后续补足不能假定必来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启动与搜牌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04 · 启动时机与停止搜牌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搜牌是为了满足当前目标，不是为了把所有英雄都搜成两星。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启动前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确认核心、装备和预算；侦察同行占牌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启动中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保留可用替代牌；随结果更新计划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启动后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补短板、存钱或冲九；检查容错能否支撑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启动与搜牌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主 C 两星、主 T 一星：先问为什么没来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同行占牌与当前血量，会改变继续搜牌的价值。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同行占满 + 容错高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评估可替代前排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及上九补强路径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同行占满 + 容错低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优先寻求即时提升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继续搜或用替代前排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目标仍可获取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评估补主 T 的收益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是否明显改善战斗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启动与搜牌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主 C 一星：暂时能赢，不代表可以安心存钱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需要同时看后续强度、争牌速度与成型时间。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常规运营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核心未完成升级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及时抢牌补足质量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严重内卷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目标可用数量下降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比较继续搜与替代路线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明确冲九计划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此前已有质量与经济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血量预算支持承担风险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启动与搜牌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转阵越晚，成本通常越高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搜牌时留意替代牌，别等资源耗尽才寻找退路。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先诊断原因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同行占牌、预算不足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还是合理随机波动？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再比较可行性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装备能否沿用？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已持有替代核心吗？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最后定目标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更好成型的下位阵容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可能用于减少掉分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启动与搜牌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读牌库：分清占目标牌与占其他牌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相同费用的其他牌被购买，与目标牌被购买，影响方向不同。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机制 / 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0779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D7B67B"/>
                </a:solidFill>
                <a:latin typeface="Noto Sans CJK SC"/>
              </a:defRPr>
            </a:pPr>
            <a:r>
              <a:t>作用与判断要点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10712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57016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拿走目标牌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557016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目标可用数量减少；提高争抢与成型压力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10808208" cy="630936"/>
          </a:xfrm>
          <a:prstGeom prst="rect">
            <a:avLst/>
          </a:prstGeom>
          <a:solidFill>
            <a:srgbClr val="15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06824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拿走其他同费牌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306824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在共享有限牌池模型下；可能改善相对抽取机会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10328"/>
            <a:ext cx="10808208" cy="630936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56632"/>
            <a:ext cx="3063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不确定信息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5056632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备战区、未侦察对象；不能当成已知持有量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节奏与上限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05 · 节奏差：更早兑现，或有条件追上限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节奏差包括三条不同路线，不能简单理解为拖晚启动。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提前成型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靠质量和血量；争取更好的名次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避开竞争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用适配的替代阵容；降低争牌压力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高容错冲九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保留搜牌预算；承担过渡期损血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节奏与上限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跳过八级搜牌：先算承受得起吗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冲九不是血量够高就自动成立。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版本支持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五费体系是否能补强？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一星关键牌能否过渡？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经济支持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升级后还剩搜牌预算？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不是只够升到九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血量支持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启动前预计损血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加转型风险能否承受？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节奏与上限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教学假设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血量预算：为启动与转型留空间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可承受预算 = 当前血量 − 启动前预计损血 − 转型预留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44368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6200" b="1">
                <a:solidFill>
                  <a:srgbClr val="8DD7CC"/>
                </a:solidFill>
                <a:latin typeface="Noto Sans CJK SC"/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41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4C1CA"/>
                </a:solidFill>
                <a:latin typeface="Noto Sans CJK SC"/>
              </a:defRPr>
            </a:pPr>
            <a:r>
              <a:t>当前血量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44368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6200" b="1">
                <a:solidFill>
                  <a:srgbClr val="D7B67B"/>
                </a:solidFill>
                <a:latin typeface="Noto Sans CJK SC"/>
              </a:defRPr>
            </a:pPr>
            <a:r>
              <a:t>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041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4C1CA"/>
                </a:solidFill>
                <a:latin typeface="Noto Sans CJK SC"/>
              </a:defRPr>
            </a:pPr>
            <a:r>
              <a:t>预计损血 · 5 ×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44368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6200" b="1">
                <a:solidFill>
                  <a:srgbClr val="8DD7CC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0416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B4C1CA"/>
                </a:solidFill>
                <a:latin typeface="Noto Sans CJK SC"/>
              </a:defRPr>
            </a:pPr>
            <a:r>
              <a:t>启动前剩余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2918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D7B67B"/>
                </a:solidFill>
                <a:latin typeface="Noto Sans CJK SC"/>
              </a:defRPr>
            </a:pPr>
            <a:r>
              <a:t>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29184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D7B67B"/>
                </a:solidFill>
                <a:latin typeface="Noto Sans CJK SC"/>
              </a:defRPr>
            </a:pPr>
            <a: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10808208" cy="777240"/>
          </a:xfrm>
          <a:prstGeom prst="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4748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3F2E9"/>
                </a:solidFill>
                <a:latin typeface="Noto Sans CJK SC"/>
              </a:defRPr>
            </a:pPr>
            <a:r>
              <a:t>教学假设：剩余血量还要覆盖转型风险；20 血不等于安全。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节奏与上限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作者策略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稳健上分与冲第一，可以有不同操作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先问玩家目标，再给出收益与代价。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稳健上分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优先及时形成战力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减少计划对稀缺条件的依赖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追求第一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容忍部分过渡风险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争取九级与机制联动上限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建议表达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推荐路线 + 成立条件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风险 + 更稳的替代路线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作者策略 ≠ 游戏固定规则  ·  版本实例须匹配当前模式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案例练习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教学假设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06 · 用三道题检验你是否会判断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案例为构造情景，不是实际对局统计或当前版本阵容推荐。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35808"/>
            <a:ext cx="320040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200" b="1">
                <a:solidFill>
                  <a:srgbClr val="D7B67B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先建立判断框架</a:t>
            </a:r>
          </a:p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再落实到每次操作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90088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16382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练习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两星过渡核心 + 适配装备；是否值得花钱升级？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67912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041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练习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99592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主 C 二星、主 T 一星；同行占牌时继续搜吗？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745736"/>
            <a:ext cx="7040880" cy="749808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9194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8DD7CC"/>
                </a:solidFill>
                <a:latin typeface="Noto Sans CJK SC"/>
              </a:defRPr>
            </a:pPr>
            <a:r>
              <a:t>练习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873751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3F2E9"/>
                </a:solidFill>
                <a:latin typeface="Noto Sans CJK SC"/>
              </a:defRPr>
            </a:pPr>
            <a:r>
              <a:t>高血量但升级后没钱；是否应该直接冲九？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案例练习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教学假设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练习 A：升级之前，说出多上谁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假设当前有两星过渡核心、适配装备，升级会损失部分利息。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可升级条件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新增英雄补有效羁绊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或补足前排、控制短板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暂缓条件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没有可上场的有效补强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投入难以改变战斗表现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尚缺信息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版本强度、经济预算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与对手的实际质量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案例练习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教学假设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练习 B：目标被占，钱该花在哪里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假设主 C 两星、主 T 一星，侦察发现多家持有同一主 T。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容错充足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替代前排暂能支撑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比较存钱上九与继续补强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容错不足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寻找马上能用的提升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不能只等原主 T 到来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下一步侦察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目标剩余量不一定已知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补看备战区与未侦察玩家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案例练习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教学假设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练习 C：高血量不是冲九的充分条件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假设血量充足，但升级后几乎没有刷新和购买预算。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核心风险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升到九但没有战力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继续损血且无法完成转型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更稳路径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先补当前质量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保留后续升级选择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冲九例外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有明确且可兑现的额外资源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仍需核对到账时间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行动清单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对局里反复使用这六个问题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把理解变成检查顺序，减少临场决策负担。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先看自己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当前战力靠谁？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装备与经济支持哪些方向？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再看环境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谁是同行，信息有多新？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关键牌是否仍可获取？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最后行动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这次花钱改善什么？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失败后还剩哪条退路？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228600"/>
          </a:xfrm>
          <a:prstGeom prst="rect">
            <a:avLst/>
          </a:prstGeom>
          <a:solidFill>
            <a:srgbClr val="D7B6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93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弈有章法  /  课程收束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393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4C1CA"/>
                </a:solidFill>
                <a:latin typeface="Noto Sans CJK SC"/>
              </a:defRPr>
            </a:pPr>
            <a:r>
              <a:t>课程总结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F3F2E9"/>
                </a:solidFill>
                <a:latin typeface="Noto Sans CJK SC"/>
              </a:defRPr>
            </a:pPr>
            <a:r>
              <a:t>理解版本，但不要把判断交给版本榜单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299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B4C1CA"/>
                </a:solidFill>
                <a:latin typeface="Noto Sans CJK SC"/>
              </a:defRPr>
            </a:pPr>
            <a:r>
              <a:t>阵容表给你候选，决策方法帮你选这局可执行的路线。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学会理由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为什么强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为什么适合这局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接受不确定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建议不保证结果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复盘判断而非只看输赢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3017520"/>
            <a:ext cx="3447288" cy="2331720"/>
          </a:xfrm>
          <a:prstGeom prst="roundRect">
            <a:avLst/>
          </a:prstGeom>
          <a:solidFill>
            <a:srgbClr val="1C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322783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D7B67B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685031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8DD7CC"/>
                </a:solidFill>
                <a:latin typeface="Noto Sans CJK SC"/>
              </a:defRPr>
            </a:pPr>
            <a:r>
              <a:t>持续迭代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34340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规则跟随版本更新</a:t>
            </a:r>
          </a:p>
          <a:p>
            <a:pPr>
              <a:spcAft>
                <a:spcPts val="800"/>
              </a:spcAft>
              <a:defRPr sz="1800" b="0">
                <a:solidFill>
                  <a:srgbClr val="F3F2E9"/>
                </a:solidFill>
                <a:latin typeface="Noto Sans CJK SC"/>
              </a:defRPr>
            </a:pPr>
            <a:r>
              <a:t>案例用于检验原则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B4C1CA"/>
                </a:solidFill>
                <a:latin typeface="Noto Sans CJK SC"/>
              </a:defRPr>
            </a:pPr>
            <a:r>
              <a:t>教学资料  ·  不承诺胜率或排名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910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D7B67B"/>
                </a:solidFill>
                <a:latin typeface="Noto Sans CJK SC"/>
              </a:defRPr>
            </a:pPr>
            <a: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弈有章法：金铲铲定阵与运营决策课</dc:title>
  <dc:subject>面向萌新与中等水平玩家的跨版本决策方法</dc:subject>
  <dc:creator>课程作者（待填写）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